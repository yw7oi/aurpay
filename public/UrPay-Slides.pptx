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BA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75488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0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3000" b="1">
                <a:solidFill>
                  <a:srgbClr val="E8C867"/>
                </a:solidFill>
                <a:latin typeface="Arial"/>
              </a:rPr>
              <a:t>U</a:t>
            </a:r>
          </a:p>
        </p:txBody>
      </p:sp>
      <p:sp>
        <p:nvSpPr>
          <p:cNvPr id="5" name="Oval 4"/>
          <p:cNvSpPr/>
          <p:nvPr/>
        </p:nvSpPr>
        <p:spPr>
          <a:xfrm>
            <a:off x="1013520" y="535838"/>
            <a:ext cx="78455" cy="78455"/>
          </a:xfrm>
          <a:prstGeom prst="ellipse">
            <a:avLst/>
          </a:prstGeom>
          <a:solidFill>
            <a:srgbClr val="E8C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5024" y="493776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0E7A5C"/>
                </a:solidFill>
                <a:latin typeface="Arial"/>
              </a:rPr>
              <a:t>Ur</a:t>
            </a:r>
            <a:r>
              <a:rPr sz="3400" b="1">
                <a:solidFill>
                  <a:srgbClr val="CBA135"/>
                </a:solidFill>
                <a:latin typeface="Arial"/>
              </a:rPr>
              <a:t>Pay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4120" y="658368"/>
            <a:ext cx="15179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4E5852"/>
                </a:solidFill>
                <a:latin typeface="Arial"/>
              </a:rPr>
              <a:t>أور پاي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60">
                <a:solidFill>
                  <a:srgbClr val="8A6D1F"/>
                </a:solidFill>
                <a:latin typeface="Arial"/>
              </a:rPr>
              <a:t>IRAQ'S AGENTIC PAYMENT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1B211E"/>
                </a:solidFill>
                <a:latin typeface="Arial"/>
              </a:rPr>
              <a:t>Every bill.</a:t>
            </a:r>
          </a:p>
          <a:p>
            <a:pPr algn="l">
              <a:lnSpc>
                <a:spcPct val="102000"/>
              </a:lnSpc>
            </a:pPr>
            <a:r>
              <a:rPr sz="4800" b="1">
                <a:solidFill>
                  <a:srgbClr val="0E7A5C"/>
                </a:solidFill>
                <a:latin typeface="Arial"/>
              </a:rPr>
              <a:t>One conversation.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47872"/>
            <a:ext cx="1188720" cy="45720"/>
          </a:xfrm>
          <a:prstGeom prst="rect">
            <a:avLst/>
          </a:prstGeom>
          <a:solidFill>
            <a:srgbClr val="CBA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749039"/>
            <a:ext cx="5989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E5852"/>
                </a:solidFill>
                <a:latin typeface="Arial"/>
              </a:rPr>
              <a:t>From Ur — where history's first transactions were recorded — to every Iraqi pocket.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554480"/>
            <a:ext cx="4535424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3488" y="1755648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40">
                <a:solidFill>
                  <a:srgbClr val="8A6D1F"/>
                </a:solidFill>
                <a:latin typeface="Arial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2048256"/>
            <a:ext cx="40416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B211E"/>
                </a:solidFill>
                <a:latin typeface="Arial"/>
              </a:rPr>
              <a:t>Iraqis juggle </a:t>
            </a:r>
            <a:r>
              <a:rPr sz="1200" b="1">
                <a:solidFill>
                  <a:srgbClr val="1B211E"/>
                </a:solidFill>
                <a:latin typeface="Arial"/>
              </a:rPr>
              <a:t>6+ separate biller channels</a:t>
            </a:r>
            <a:r>
              <a:rPr sz="1200" b="0">
                <a:solidFill>
                  <a:srgbClr val="1B211E"/>
                </a:solidFill>
                <a:latin typeface="Arial"/>
              </a:rPr>
              <a:t>: queues, kiosks, and fragmented apps.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980944"/>
            <a:ext cx="4535424" cy="1481328"/>
          </a:xfrm>
          <a:prstGeom prst="roundRect">
            <a:avLst>
              <a:gd name="adj" fmla="val 7000"/>
            </a:avLst>
          </a:prstGeom>
          <a:solidFill>
            <a:srgbClr val="0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33488" y="3218688"/>
            <a:ext cx="91440" cy="91440"/>
          </a:xfrm>
          <a:prstGeom prst="ellipse">
            <a:avLst/>
          </a:prstGeom>
          <a:solidFill>
            <a:srgbClr val="E8C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3172968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40">
                <a:solidFill>
                  <a:srgbClr val="FFFFFF"/>
                </a:solidFill>
                <a:latin typeface="Arial"/>
              </a:rPr>
              <a:t>THE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3493008"/>
            <a:ext cx="40599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One wallet</a:t>
            </a:r>
            <a:r>
              <a:rPr sz="1200" b="0">
                <a:solidFill>
                  <a:srgbClr val="F8F6F0"/>
                </a:solidFill>
                <a:latin typeface="Arial"/>
              </a:rPr>
              <a:t> + an </a:t>
            </a:r>
            <a:r>
              <a:rPr sz="1200" b="1">
                <a:solidFill>
                  <a:srgbClr val="FFFFFF"/>
                </a:solidFill>
                <a:latin typeface="Arial"/>
              </a:rPr>
              <a:t>AI agent</a:t>
            </a:r>
            <a:r>
              <a:rPr sz="1200" b="0">
                <a:solidFill>
                  <a:srgbClr val="F8F6F0"/>
                </a:solidFill>
                <a:latin typeface="Arial"/>
              </a:rPr>
              <a:t> that pays electricity, water, internet, mobile, education &amp; traffic bills — from a single chat, secured by PIN.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175504"/>
            <a:ext cx="266090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BA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B211E"/>
                </a:solidFill>
                <a:latin typeface="Arial"/>
              </a:rPr>
              <a:t>6 bill categories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64992" y="5175504"/>
            <a:ext cx="266090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BA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B211E"/>
                </a:solidFill>
                <a:latin typeface="Arial"/>
              </a:rPr>
              <a:t>PIN-secured payments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5175504"/>
            <a:ext cx="266090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BA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B211E"/>
                </a:solidFill>
                <a:latin typeface="Arial"/>
              </a:rPr>
              <a:t>Instant P2P transfers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5175504"/>
            <a:ext cx="266090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BA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B211E"/>
                </a:solidFill>
                <a:latin typeface="Arial"/>
              </a:rPr>
              <a:t>Groq gpt-oss-120b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272784"/>
            <a:ext cx="11055096" cy="12801"/>
          </a:xfrm>
          <a:prstGeom prst="rect">
            <a:avLst/>
          </a:prstGeom>
          <a:solidFill>
            <a:srgbClr val="DC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39165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E5852"/>
                </a:solidFill>
                <a:latin typeface="Arial"/>
              </a:rPr>
              <a:t>Zain Hackathon · Section 4 — Bill Pay Agent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50424" y="639165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8A6D1F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BA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60">
                <a:solidFill>
                  <a:srgbClr val="8A6D1F"/>
                </a:solidFill>
                <a:latin typeface="Arial"/>
              </a:rPr>
              <a:t>HOW UR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211E"/>
                </a:solidFill>
                <a:latin typeface="Arial"/>
              </a:rPr>
              <a:t>The Agentic Payment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868680" cy="45720"/>
          </a:xfrm>
          <a:prstGeom prst="rect">
            <a:avLst/>
          </a:prstGeom>
          <a:solidFill>
            <a:srgbClr val="CBA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76688" y="365760"/>
            <a:ext cx="329184" cy="329184"/>
          </a:xfrm>
          <a:prstGeom prst="roundRect">
            <a:avLst>
              <a:gd name="adj" fmla="val 24000"/>
            </a:avLst>
          </a:prstGeom>
          <a:solidFill>
            <a:srgbClr val="0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E8C867"/>
                </a:solidFill>
                <a:latin typeface="Arial"/>
              </a:rPr>
              <a:t>U</a:t>
            </a:r>
          </a:p>
        </p:txBody>
      </p:sp>
      <p:sp>
        <p:nvSpPr>
          <p:cNvPr id="8" name="Oval 7"/>
          <p:cNvSpPr/>
          <p:nvPr/>
        </p:nvSpPr>
        <p:spPr>
          <a:xfrm>
            <a:off x="10320284" y="398678"/>
            <a:ext cx="42793" cy="42793"/>
          </a:xfrm>
          <a:prstGeom prst="ellipse">
            <a:avLst/>
          </a:prstGeom>
          <a:solidFill>
            <a:srgbClr val="E8C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97312" y="365760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E7A5C"/>
                </a:solidFill>
                <a:latin typeface="Arial"/>
              </a:rPr>
              <a:t>Ur</a:t>
            </a:r>
            <a:r>
              <a:rPr sz="1500" b="1">
                <a:solidFill>
                  <a:srgbClr val="CBA135"/>
                </a:solidFill>
                <a:latin typeface="Arial"/>
              </a:rPr>
              <a:t>Pay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2487168" cy="181051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170078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0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194560"/>
            <a:ext cx="21214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1B211E"/>
                </a:solidFill>
                <a:latin typeface="Arial"/>
              </a:rP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23744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4E5852"/>
                </a:solidFill>
                <a:latin typeface="Arial"/>
              </a:rPr>
              <a:t>Parses Arabic / English intent.</a:t>
            </a:r>
          </a:p>
        </p:txBody>
      </p:sp>
      <p:sp>
        <p:nvSpPr>
          <p:cNvPr id="14" name="Chevron 13"/>
          <p:cNvSpPr/>
          <p:nvPr/>
        </p:nvSpPr>
        <p:spPr>
          <a:xfrm>
            <a:off x="3083036" y="2194560"/>
            <a:ext cx="310896" cy="384048"/>
          </a:xfrm>
          <a:prstGeom prst="chevron">
            <a:avLst/>
          </a:prstGeom>
          <a:solidFill>
            <a:srgbClr val="CBA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2873" y="1481328"/>
            <a:ext cx="2487168" cy="181051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24041" y="170078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0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4041" y="2194560"/>
            <a:ext cx="21214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1B211E"/>
                </a:solidFill>
                <a:latin typeface="Arial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4041" y="2523744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4E5852"/>
                </a:solidFill>
                <a:latin typeface="Arial"/>
              </a:rPr>
              <a:t>Pulls real bills &amp; balance via tools.</a:t>
            </a:r>
          </a:p>
        </p:txBody>
      </p:sp>
      <p:sp>
        <p:nvSpPr>
          <p:cNvPr id="19" name="Chevron 18"/>
          <p:cNvSpPr/>
          <p:nvPr/>
        </p:nvSpPr>
        <p:spPr>
          <a:xfrm>
            <a:off x="5938982" y="2194560"/>
            <a:ext cx="310896" cy="384048"/>
          </a:xfrm>
          <a:prstGeom prst="chevron">
            <a:avLst/>
          </a:prstGeom>
          <a:solidFill>
            <a:srgbClr val="CBA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8819" y="1481328"/>
            <a:ext cx="2487168" cy="181051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79987" y="170078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0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9987" y="2194560"/>
            <a:ext cx="21214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1B211E"/>
                </a:solidFill>
                <a:latin typeface="Arial"/>
              </a:rPr>
              <a:t>Authorize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987" y="2523744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4E5852"/>
                </a:solidFill>
                <a:latin typeface="Arial"/>
              </a:rPr>
              <a:t>Requests the user's PIN — </a:t>
            </a:r>
            <a:r>
              <a:rPr sz="1000" b="1">
                <a:solidFill>
                  <a:srgbClr val="0B5C46"/>
                </a:solidFill>
                <a:latin typeface="Arial"/>
              </a:rPr>
              <a:t>never stored</a:t>
            </a:r>
          </a:p>
        </p:txBody>
      </p:sp>
      <p:sp>
        <p:nvSpPr>
          <p:cNvPr id="24" name="Chevron 23"/>
          <p:cNvSpPr/>
          <p:nvPr/>
        </p:nvSpPr>
        <p:spPr>
          <a:xfrm>
            <a:off x="8794927" y="2194560"/>
            <a:ext cx="310896" cy="384048"/>
          </a:xfrm>
          <a:prstGeom prst="chevron">
            <a:avLst/>
          </a:prstGeom>
          <a:solidFill>
            <a:srgbClr val="CBA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34764" y="1481328"/>
            <a:ext cx="2487168" cy="181051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35932" y="170078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0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5932" y="2194560"/>
            <a:ext cx="21214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1B211E"/>
                </a:solidFill>
                <a:latin typeface="Arial"/>
              </a:rPr>
              <a:t>Execute &amp; Receipt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5932" y="2523744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4E5852"/>
                </a:solidFill>
                <a:latin typeface="Arial"/>
              </a:rPr>
              <a:t>Payment + </a:t>
            </a:r>
            <a:r>
              <a:rPr sz="1000" b="1">
                <a:solidFill>
                  <a:srgbClr val="0B5C46"/>
                </a:solidFill>
                <a:latin typeface="Arial"/>
              </a:rPr>
              <a:t>UR-reference receipt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62102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40">
                <a:solidFill>
                  <a:srgbClr val="8A6D1F"/>
                </a:solidFill>
                <a:latin typeface="Arial"/>
              </a:rPr>
              <a:t>TECH STACK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877056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1B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F8F6F0"/>
                </a:solidFill>
                <a:latin typeface="Arial"/>
              </a:rPr>
              <a:t>FastAPI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91056" y="3877056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1B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F8F6F0"/>
                </a:solidFill>
                <a:latin typeface="Arial"/>
              </a:rPr>
              <a:t>SQLite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42032" y="3877056"/>
            <a:ext cx="1060704" cy="384048"/>
          </a:xfrm>
          <a:prstGeom prst="roundRect">
            <a:avLst>
              <a:gd name="adj" fmla="val 50000"/>
            </a:avLst>
          </a:prstGeom>
          <a:solidFill>
            <a:srgbClr val="1B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F8F6F0"/>
                </a:solidFill>
                <a:latin typeface="Arial"/>
              </a:rPr>
              <a:t>Next.js 16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30752" y="3877056"/>
            <a:ext cx="1591056" cy="384048"/>
          </a:xfrm>
          <a:prstGeom prst="roundRect">
            <a:avLst>
              <a:gd name="adj" fmla="val 50000"/>
            </a:avLst>
          </a:prstGeom>
          <a:solidFill>
            <a:srgbClr val="1B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F8F6F0"/>
                </a:solidFill>
                <a:latin typeface="Arial"/>
              </a:rPr>
              <a:t>Groq gpt-oss-120b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49824" y="3877056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B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F8F6F0"/>
                </a:solidFill>
                <a:latin typeface="Arial"/>
              </a:rPr>
              <a:t>Function Calling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535424"/>
            <a:ext cx="6400800" cy="1042415"/>
          </a:xfrm>
          <a:prstGeom prst="roundRect">
            <a:avLst>
              <a:gd name="adj" fmla="val 10000"/>
            </a:avLst>
          </a:prstGeom>
          <a:solidFill>
            <a:srgbClr val="F1E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46817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140">
                <a:solidFill>
                  <a:srgbClr val="8A6D1F"/>
                </a:solidFill>
                <a:latin typeface="Arial"/>
              </a:rPr>
              <a:t>SECURITY &amp;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4937760"/>
            <a:ext cx="59253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B211E"/>
                </a:solidFill>
                <a:latin typeface="Arial"/>
              </a:rPr>
              <a:t>PBKDF2-hashed PIN</a:t>
            </a:r>
            <a:r>
              <a:rPr sz="1100" b="0">
                <a:solidFill>
                  <a:srgbClr val="1B211E"/>
                </a:solidFill>
                <a:latin typeface="Arial"/>
              </a:rPr>
              <a:t> · JWT sessions · masked PIN in chat logs · </a:t>
            </a:r>
            <a:r>
              <a:rPr sz="1100" b="1">
                <a:solidFill>
                  <a:srgbClr val="1B211E"/>
                </a:solidFill>
                <a:latin typeface="Arial"/>
              </a:rPr>
              <a:t>100 realistic seeded Iraqi users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23760" y="3584448"/>
            <a:ext cx="4398264" cy="2331720"/>
          </a:xfrm>
          <a:prstGeom prst="roundRect">
            <a:avLst>
              <a:gd name="adj" fmla="val 7500"/>
            </a:avLst>
          </a:prstGeom>
          <a:solidFill>
            <a:srgbClr val="1B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61504" y="3813048"/>
            <a:ext cx="91440" cy="91440"/>
          </a:xfrm>
          <a:prstGeom prst="ellipse">
            <a:avLst/>
          </a:prstGeom>
          <a:solidFill>
            <a:srgbClr val="E8C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44383" y="3767328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100">
                <a:solidFill>
                  <a:srgbClr val="E8C867"/>
                </a:solidFill>
                <a:latin typeface="Arial"/>
              </a:rPr>
              <a:t>Ur — Agent Chat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61504" y="4096512"/>
            <a:ext cx="3913632" cy="12801"/>
          </a:xfrm>
          <a:prstGeom prst="rect">
            <a:avLst/>
          </a:prstGeom>
          <a:solidFill>
            <a:srgbClr val="3A4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61504" y="4261104"/>
            <a:ext cx="393192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1" spc="120">
                <a:solidFill>
                  <a:srgbClr val="E8C867"/>
                </a:solidFill>
                <a:latin typeface="Arial"/>
              </a:rPr>
              <a:t>USER</a:t>
            </a:r>
            <a:r>
              <a:rPr sz="800" b="1">
                <a:solidFill>
                  <a:srgbClr val="E8C867"/>
                </a:solidFill>
                <a:latin typeface="Arial"/>
              </a:rPr>
              <a:t>   </a:t>
            </a:r>
            <a:r>
              <a:rPr sz="1100" b="0">
                <a:solidFill>
                  <a:srgbClr val="F8F6F0"/>
                </a:solidFill>
                <a:latin typeface="Arial"/>
              </a:rPr>
              <a:t>ادفع فاتورة الكهرباء</a:t>
            </a:r>
          </a:p>
          <a:p>
            <a:pPr algn="l">
              <a:spcAft>
                <a:spcPts val="700"/>
              </a:spcAft>
            </a:pPr>
            <a:r>
              <a:rPr sz="800" b="1" spc="120">
                <a:solidFill>
                  <a:srgbClr val="7FC4A8"/>
                </a:solidFill>
                <a:latin typeface="Arial"/>
              </a:rPr>
              <a:t>UR</a:t>
            </a:r>
            <a:r>
              <a:rPr sz="800" b="1">
                <a:solidFill>
                  <a:srgbClr val="7FC4A8"/>
                </a:solidFill>
                <a:latin typeface="Arial"/>
              </a:rPr>
              <a:t>   </a:t>
            </a:r>
            <a:r>
              <a:rPr sz="950" b="0">
                <a:solidFill>
                  <a:srgbClr val="F8F6F0"/>
                </a:solidFill>
                <a:latin typeface="Arial"/>
              </a:rPr>
              <a:t>Electricity bill, </a:t>
            </a:r>
            <a:r>
              <a:rPr sz="950" b="1">
                <a:solidFill>
                  <a:srgbClr val="E8C867"/>
                </a:solidFill>
                <a:latin typeface="Arial"/>
              </a:rPr>
              <a:t>45,000 IQD</a:t>
            </a:r>
            <a:r>
              <a:rPr sz="950" b="0">
                <a:solidFill>
                  <a:srgbClr val="F8F6F0"/>
                </a:solidFill>
                <a:latin typeface="Arial"/>
              </a:rPr>
              <a:t>. Send your PIN.</a:t>
            </a:r>
          </a:p>
          <a:p>
            <a:pPr algn="l">
              <a:spcAft>
                <a:spcPts val="700"/>
              </a:spcAft>
            </a:pPr>
            <a:r>
              <a:rPr sz="800" b="1" spc="120">
                <a:solidFill>
                  <a:srgbClr val="7FC4A8"/>
                </a:solidFill>
                <a:latin typeface="Arial"/>
              </a:rPr>
              <a:t>UR</a:t>
            </a:r>
            <a:r>
              <a:rPr sz="800" b="1">
                <a:solidFill>
                  <a:srgbClr val="7FC4A8"/>
                </a:solidFill>
                <a:latin typeface="Arial"/>
              </a:rPr>
              <a:t>   </a:t>
            </a:r>
            <a:r>
              <a:rPr sz="950" b="0">
                <a:solidFill>
                  <a:srgbClr val="F8F6F0"/>
                </a:solidFill>
                <a:latin typeface="Arial"/>
              </a:rPr>
              <a:t>✅ Paid — receipt </a:t>
            </a:r>
            <a:r>
              <a:rPr sz="950" b="1">
                <a:solidFill>
                  <a:srgbClr val="E8C867"/>
                </a:solidFill>
                <a:latin typeface="Arial"/>
              </a:rPr>
              <a:t>UR-8XK2F3</a:t>
            </a:r>
            <a:r>
              <a:rPr sz="950" b="0">
                <a:solidFill>
                  <a:srgbClr val="F8F6F0"/>
                </a:solidFill>
                <a:latin typeface="Arial"/>
              </a:rPr>
              <a:t>, balance </a:t>
            </a:r>
            <a:r>
              <a:rPr sz="950" b="0">
                <a:solidFill>
                  <a:srgbClr val="F8F6F0"/>
                </a:solidFill>
                <a:latin typeface="Arial"/>
              </a:rPr>
              <a:t>1,705,000 IQD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6272784"/>
            <a:ext cx="11055096" cy="12801"/>
          </a:xfrm>
          <a:prstGeom prst="rect">
            <a:avLst/>
          </a:prstGeom>
          <a:solidFill>
            <a:srgbClr val="DC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639165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E5852"/>
                </a:solidFill>
                <a:latin typeface="Arial"/>
              </a:rPr>
              <a:t>Demo card 4539 1234 1234 1234 · PIN 1234 — urpay.iq (demo)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50424" y="639165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8A6D1F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UrPay — Iraq's Agentic Payment Platform</dc:title>
  <dc:subject>Zain Hackathon · Section 4 — Bill Pay Agent</dc:subject>
  <dc:creator>UrPay Team</dc:creator>
  <cp:keywords/>
  <dc:description>Every bill. One conversation.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